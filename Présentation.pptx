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9898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4572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LLM NETFLIX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11480" y="228600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RAG Local — Retrieval-Augmented Generation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 Catalogue Netflix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1480" y="3383280"/>
            <a:ext cx="1508760" cy="347472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411480" y="3383280"/>
            <a:ext cx="54864" cy="34747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02920" y="33832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C97A"/>
                </a:solidFill>
              </a:rPr>
              <a:t>Python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03120" y="3383280"/>
            <a:ext cx="1508760" cy="347472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103120" y="3383280"/>
            <a:ext cx="54864" cy="34747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194560" y="33832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C97A"/>
                </a:solidFill>
              </a:rPr>
              <a:t>LangChain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94760" y="3383280"/>
            <a:ext cx="1508760" cy="347472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794760" y="3383280"/>
            <a:ext cx="54864" cy="34747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886200" y="33832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C97A"/>
                </a:solidFill>
              </a:rPr>
              <a:t>Ollama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0" y="3383280"/>
            <a:ext cx="1508760" cy="347472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5486400" y="3383280"/>
            <a:ext cx="54864" cy="34747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577840" y="33832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C97A"/>
                </a:solidFill>
              </a:rPr>
              <a:t>ChromaDB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78040" y="3383280"/>
            <a:ext cx="1508760" cy="347472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7178040" y="3383280"/>
            <a:ext cx="54864" cy="34747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7269480" y="33832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C97A"/>
                </a:solidFill>
              </a:rPr>
              <a:t>Streamlit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425196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A9BAE"/>
                </a:solidFill>
              </a:rPr>
              <a:t>8 807 titres Netflix  ·  100% local  ·  sans API externe payante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4008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INTRODUCTION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Problématique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457200" cy="36576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Comment permettre à un utilisateur d'interroger en langage naturel un dataset structuré de plus de 8 800 titres Netflix, et obtenir des réponses précises sur les films, séries, réalisateurs, acteurs, pays et dates de sortie 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2606040" cy="21945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65760" y="2514600"/>
            <a:ext cx="2606040" cy="6400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9748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65760" y="318211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C97A"/>
                </a:solidFill>
              </a:rPr>
              <a:t>Dataset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65760" y="35661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BAE"/>
                </a:solidFill>
              </a:rPr>
              <a:t>8 807 titres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A9BAE"/>
                </a:solidFill>
              </a:rPr>
              <a:t>netflix_titles.csv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00400" y="2514600"/>
            <a:ext cx="2606040" cy="21945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1"/>
          <p:cNvSpPr/>
          <p:nvPr/>
        </p:nvSpPr>
        <p:spPr>
          <a:xfrm>
            <a:off x="3200400" y="2514600"/>
            <a:ext cx="2606040" cy="6400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269748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200400" y="318211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C97A"/>
                </a:solidFill>
              </a:rPr>
              <a:t>Approche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200400" y="35661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BAE"/>
                </a:solidFill>
              </a:rPr>
              <a:t>RAG — Retrieval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A9BAE"/>
                </a:solidFill>
              </a:rPr>
              <a:t>Augmented Generation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035040" y="2514600"/>
            <a:ext cx="2606040" cy="21945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5"/>
          <p:cNvSpPr/>
          <p:nvPr/>
        </p:nvSpPr>
        <p:spPr>
          <a:xfrm>
            <a:off x="6035040" y="2514600"/>
            <a:ext cx="2606040" cy="6400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269748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035040" y="318211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C97A"/>
                </a:solidFill>
              </a:rPr>
              <a:t>Résultat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035040" y="35661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BAE"/>
                </a:solidFill>
              </a:rPr>
              <a:t>Chatbot conversationnel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A9BAE"/>
                </a:solidFill>
              </a:rPr>
              <a:t>100% local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4008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ARCHITECTURE RAG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84C"/>
                </a:solidFill>
              </a:rPr>
              <a:t>Phase 1 — Indexation (offline)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216152"/>
            <a:ext cx="1874520" cy="685800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65760" y="1216152"/>
            <a:ext cx="1874520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1271016"/>
            <a:ext cx="1874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CSV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8807 titres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40280" y="1563624"/>
            <a:ext cx="27432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514600" y="1216152"/>
            <a:ext cx="1874520" cy="685800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514600" y="1216152"/>
            <a:ext cx="1874520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2514600" y="1271016"/>
            <a:ext cx="1874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Documents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texte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0" y="1563624"/>
            <a:ext cx="27432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663440" y="1216152"/>
            <a:ext cx="1874520" cy="685800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663440" y="1216152"/>
            <a:ext cx="1874520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663440" y="1271016"/>
            <a:ext cx="1874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Embeddings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nomic-embed-text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37960" y="1563624"/>
            <a:ext cx="27432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6812280" y="1216152"/>
            <a:ext cx="1874520" cy="685800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6812280" y="1216152"/>
            <a:ext cx="1874520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812280" y="1271016"/>
            <a:ext cx="1874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ChromaDB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stockage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221284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84C"/>
                </a:solidFill>
              </a:rPr>
              <a:t>Phase 2 — Requête (online)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65760" y="2633472"/>
            <a:ext cx="1874520" cy="685800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365760" y="2633472"/>
            <a:ext cx="1874520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65760" y="2688336"/>
            <a:ext cx="1874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Question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utilisateur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40280" y="2980944"/>
            <a:ext cx="27432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2514600" y="2633472"/>
            <a:ext cx="1874520" cy="685800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2514600" y="2633472"/>
            <a:ext cx="1874520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2514600" y="2688336"/>
            <a:ext cx="1874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Vecteur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question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389120" y="2980944"/>
            <a:ext cx="27432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4663440" y="2633472"/>
            <a:ext cx="1874520" cy="685800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4663440" y="2633472"/>
            <a:ext cx="1874520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4663440" y="2688336"/>
            <a:ext cx="1874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k docs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les + proches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537960" y="2980944"/>
            <a:ext cx="27432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6812280" y="2633472"/>
            <a:ext cx="1874520" cy="685800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6812280" y="2633472"/>
            <a:ext cx="1874520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6812280" y="2688336"/>
            <a:ext cx="1874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Réponse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LLM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240280" y="1901952"/>
            <a:ext cx="0" cy="731520"/>
          </a:xfrm>
          <a:prstGeom prst="line">
            <a:avLst/>
          </a:prstGeom>
          <a:noFill/>
          <a:ln w="12700">
            <a:solidFill>
              <a:srgbClr val="8A9BAE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1463040" y="1901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AE"/>
                </a:solidFill>
              </a:rPr>
              <a:t>ChromaDB consulté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3703320"/>
            <a:ext cx="8412480" cy="777240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365760" y="3703320"/>
            <a:ext cx="54864" cy="77724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22192"/>
            <a:ext cx="347472" cy="347472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1005840" y="370332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AE"/>
                </a:solidFill>
              </a:rPr>
              <a:t>Modèle LLM : llama3.2:1b  ·  Modèle Embedding : nomic-embed-text  ·  Serveur local : Ollama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4008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STRATÉGIE DE RÉCUPÉRATION HYBRIDE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AE"/>
                </a:solidFill>
              </a:rPr>
              <a:t>5 niveaux de priorité en cascade — retriever.py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502920" cy="5029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502920" cy="6400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1261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97A"/>
                </a:solidFill>
              </a:rPr>
              <a:t>P1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60120" y="1261872"/>
            <a:ext cx="7818120" cy="502920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960120" y="1261872"/>
            <a:ext cx="54864" cy="50292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1097280" y="126187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Préfixe de titre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0" y="126187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</a:rPr>
              <a:t>"titles that start with..."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956816"/>
            <a:ext cx="502920" cy="5029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65760" y="1956816"/>
            <a:ext cx="502920" cy="6400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65760" y="1956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97A"/>
                </a:solidFill>
              </a:rPr>
              <a:t>P2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0120" y="1956816"/>
            <a:ext cx="7818120" cy="502920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960120" y="1956816"/>
            <a:ext cx="54864" cy="50292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1097280" y="195681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Filtres structurés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0" y="195681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</a:rPr>
              <a:t>type, pays, année, champ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651760"/>
            <a:ext cx="502920" cy="5029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365760" y="2651760"/>
            <a:ext cx="502920" cy="6400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36576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97A"/>
                </a:solidFill>
              </a:rPr>
              <a:t>P3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60120" y="2651760"/>
            <a:ext cx="7818120" cy="502920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960120" y="2651760"/>
            <a:ext cx="54864" cy="50292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1097280" y="26517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Mot-clé dans titre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114800" y="26517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</a:rPr>
              <a:t>"movies containing love"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346704"/>
            <a:ext cx="502920" cy="5029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365760" y="3346704"/>
            <a:ext cx="502920" cy="6400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365760" y="3346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97A"/>
                </a:solidFill>
              </a:rPr>
              <a:t>P4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60120" y="3346704"/>
            <a:ext cx="7818120" cy="502920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960120" y="3346704"/>
            <a:ext cx="54864" cy="50292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1097280" y="334670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Correspondance exacte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114800" y="334670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</a:rPr>
              <a:t>Recherche d'un titre précis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41648"/>
            <a:ext cx="502920" cy="5029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365760" y="4041648"/>
            <a:ext cx="502920" cy="6400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365760" y="4041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97A"/>
                </a:solidFill>
              </a:rPr>
              <a:t>P5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60120" y="4041648"/>
            <a:ext cx="7818120" cy="502920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960120" y="4041648"/>
            <a:ext cx="54864" cy="50292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1097280" y="404164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Hybride vectoriel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114800" y="404164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</a:rPr>
              <a:t>Filtres metadata + recherche sémantique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4008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MODULES DU PROJET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1554480" cy="621792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64008" cy="62179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84048" y="804672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ingest.py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20240" y="804672"/>
            <a:ext cx="6949440" cy="621792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011680" y="804672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Ingestion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0" y="804672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AE"/>
                </a:solidFill>
              </a:rPr>
              <a:t>Charge le CSV, génère les embeddings, peuple ChromaDB (lots de 500)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627632"/>
            <a:ext cx="1554480" cy="621792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274320" y="1627632"/>
            <a:ext cx="64008" cy="62179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84048" y="1627632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retriever.py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920240" y="1627632"/>
            <a:ext cx="6949440" cy="621792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011680" y="1627632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Récupération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0" y="1627632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AE"/>
                </a:solidFill>
              </a:rPr>
              <a:t>Logique hybride en 5 niveaux : filtres, préfixes, mots-clés, vecteurs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450592"/>
            <a:ext cx="1554480" cy="621792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274320" y="2450592"/>
            <a:ext cx="64008" cy="62179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84048" y="2450592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chain.py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920240" y="2450592"/>
            <a:ext cx="6949440" cy="621792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2011680" y="2450592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Chaîne RAG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74720" y="2450592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AE"/>
                </a:solidFill>
              </a:rPr>
              <a:t>Détection du type de question, formatage contexte, appel au LLM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273552"/>
            <a:ext cx="1554480" cy="621792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274320" y="3273552"/>
            <a:ext cx="64008" cy="62179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384048" y="3273552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920240" y="3273552"/>
            <a:ext cx="6949440" cy="621792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2011680" y="3273552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74720" y="3273552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AE"/>
                </a:solidFill>
              </a:rPr>
              <a:t>Interface ligne de commande avec gestion des erreurs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096512"/>
            <a:ext cx="1554480" cy="621792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274320" y="4096512"/>
            <a:ext cx="64008" cy="62179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384048" y="4096512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web_app.py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920240" y="4096512"/>
            <a:ext cx="6949440" cy="621792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2011680" y="4096512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Web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474720" y="4096512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AE"/>
                </a:solidFill>
              </a:rPr>
              <a:t>Interface Streamlit conversationnelle sur localhost:8501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4008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STACK TECHNOLOGIQUE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</a:rPr>
              <a:t>100% open-source · 100% local · zéro API externe payante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1920240" cy="109728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1920240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20040" y="1325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A9BAE"/>
                </a:solidFill>
              </a:rPr>
              <a:t>Langage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61848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+ uv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68880" y="1234440"/>
            <a:ext cx="1920240" cy="109728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468880" y="1234440"/>
            <a:ext cx="1920240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2468880" y="1325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A9BAE"/>
                </a:solidFill>
              </a:rPr>
              <a:t>Orchestration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68880" y="161848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LangChain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17720" y="1234440"/>
            <a:ext cx="1920240" cy="109728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617720" y="1234440"/>
            <a:ext cx="1920240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617720" y="1325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A9BAE"/>
                </a:solidFill>
              </a:rPr>
              <a:t>LLM local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17720" y="161848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66560" y="1234440"/>
            <a:ext cx="1920240" cy="109728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6766560" y="1234440"/>
            <a:ext cx="1920240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766560" y="1325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A9BAE"/>
                </a:solidFill>
              </a:rPr>
              <a:t>Génération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66560" y="161848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llama3.2:1b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2606040"/>
            <a:ext cx="1920240" cy="109728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320040" y="2606040"/>
            <a:ext cx="1920240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20040" y="26974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A9BAE"/>
                </a:solidFill>
              </a:rPr>
              <a:t>Embeddings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0040" y="299008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nomic-embed-text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468880" y="2606040"/>
            <a:ext cx="1920240" cy="109728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2468880" y="2606040"/>
            <a:ext cx="1920240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2468880" y="26974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A9BAE"/>
                </a:solidFill>
              </a:rPr>
              <a:t>Vectoriel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468880" y="299008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ChromaDB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17720" y="2606040"/>
            <a:ext cx="1920240" cy="109728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4617720" y="2606040"/>
            <a:ext cx="1920240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4617720" y="26974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A9BAE"/>
                </a:solidFill>
              </a:rPr>
              <a:t>Data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617720" y="299008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766560" y="2606040"/>
            <a:ext cx="1920240" cy="109728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6766560" y="2606040"/>
            <a:ext cx="1920240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6766560" y="26974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A9BAE"/>
                </a:solidFill>
              </a:rPr>
              <a:t>Interface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766560" y="299008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4008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LIMITES &amp; AMÉLIORATIONS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04672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8046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</a:rPr>
              <a:t>Limites actuelles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123444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A9BAE"/>
                </a:solidFill>
              </a:rPr>
              <a:t>Modèle 1B léger — peut oublier des titres dans de longues listes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A9BAE"/>
                </a:solidFill>
              </a:rPr>
              <a:t>Base ChromaDB à générer localement avant la 1ère utilisation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A9BAE"/>
                </a:solidFill>
              </a:rPr>
              <a:t>Interface web en anglais uniquement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A9BAE"/>
                </a:solidFill>
              </a:rPr>
              <a:t>Alias de pays limités à un sous-ensemble de nationalités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804672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66360" y="8046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</a:rPr>
              <a:t>Améliorations possibles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846320" y="1234440"/>
            <a:ext cx="4023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A9BAE"/>
                </a:solidFill>
              </a:rPr>
              <a:t>LLM plus grand (3b ou 7b) pour de meilleures réponses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A9BAE"/>
                </a:solidFill>
              </a:rPr>
              <a:t>Support multilingue — questions en français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A9BAE"/>
                </a:solidFill>
              </a:rPr>
              <a:t>Extension des alias de pays et genres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A9BAE"/>
                </a:solidFill>
              </a:rPr>
              <a:t>Cache pour les requêtes fréquentes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A9BAE"/>
                </a:solidFill>
              </a:rPr>
              <a:t>Gestion de la base ChromaDB via interface dédiée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4008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CONCLUSION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pipeline RAG complet, local et modulaire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731520" cy="4572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0020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53619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AE"/>
                </a:solidFill>
              </a:rPr>
              <a:t>Architecture scalable — l'ajout de nouveaux titres ne nécessite qu'une mise à jour de la config Airbyte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58568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21945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AE"/>
                </a:solidFill>
              </a:rPr>
              <a:t>Stratégie hybride 5 niveaux — gère requêtes précises ET listes larges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16936"/>
            <a:ext cx="347472" cy="3474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0120" y="285292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AE"/>
                </a:solidFill>
              </a:rPr>
              <a:t>Architecture modulaire — séparation claire entre ingestion, récupération, chaîne RAG et interfaces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575304"/>
            <a:ext cx="347472" cy="34747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60120" y="3511296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AE"/>
                </a:solidFill>
              </a:rPr>
              <a:t>100% local, sans coût d'API, basé sur des outils open-source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0" y="4526280"/>
            <a:ext cx="9144000" cy="621792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0"/>
          <p:cNvSpPr/>
          <p:nvPr/>
        </p:nvSpPr>
        <p:spPr>
          <a:xfrm>
            <a:off x="0" y="452628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1"/>
          <p:cNvSpPr/>
          <p:nvPr/>
        </p:nvSpPr>
        <p:spPr>
          <a:xfrm>
            <a:off x="365760" y="456285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A9BAE"/>
                </a:solidFill>
              </a:rPr>
              <a:t>Base solide pour explorer les techniques RAG avec des modèles open-source locaux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482</Words>
  <Application>Microsoft Office PowerPoint</Application>
  <PresentationFormat>Affichage à l'écran (16:9)</PresentationFormat>
  <Paragraphs>120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4" baseType="lpstr">
      <vt:lpstr>Arial</vt:lpstr>
      <vt:lpstr>Arial Black</vt:lpstr>
      <vt:lpstr>Calibri</vt:lpstr>
      <vt:lpstr>Consolas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Netflix — Chatbot RAG Local</dc:title>
  <dc:subject>PptxGenJS Presentation</dc:subject>
  <dc:creator>PptxGenJS</dc:creator>
  <cp:lastModifiedBy>Omar Bourezgui</cp:lastModifiedBy>
  <cp:revision>2</cp:revision>
  <dcterms:created xsi:type="dcterms:W3CDTF">2026-05-20T00:21:04Z</dcterms:created>
  <dcterms:modified xsi:type="dcterms:W3CDTF">2026-05-20T12:10:30Z</dcterms:modified>
</cp:coreProperties>
</file>